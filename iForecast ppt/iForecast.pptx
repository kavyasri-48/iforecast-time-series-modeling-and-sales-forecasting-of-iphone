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notesMasterIdLst>
    <p:notesMasterId r:id="rId15"/>
  </p:notesMasterIdLst>
  <p:sldIdLst>
    <p:sldId id="256" r:id="rId2"/>
    <p:sldId id="272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74" r:id="rId11"/>
    <p:sldId id="266" r:id="rId12"/>
    <p:sldId id="273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BEDE"/>
    <a:srgbClr val="B9D1CB"/>
    <a:srgbClr val="BBCCE9"/>
    <a:srgbClr val="BAD2C9"/>
    <a:srgbClr val="B9D1C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69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88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D386-5F99-DA1D-0583-43D9FC1F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EDE8F-BE5D-6AA8-A9B6-E9A99AB60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B98FA-150E-02DD-5C78-B14252EE7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2B47F-5866-558D-524C-5A7A5839F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C73AB-CBF8-2337-734D-DFB453E1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1319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57812-3AB0-B928-4210-EF8EDF7A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B414C-FF03-BA39-0B8B-417E308D1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F7E77-8059-0108-D3B0-CB946E88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DDF90-5544-D9A4-1867-24CC6A69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570AC-5E5E-BA71-3F48-B0922A08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0246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CC5D-58D7-AE5A-FF8E-F53F6631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BF75A-9E6B-5592-DC19-DC1A4B3D3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3E414-593C-078C-0ECC-20720A99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DEDF7-8D07-A5D6-5746-980A0FE3A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A9EAD-B960-1545-0EAA-A7487A27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2264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AA94D-C0D1-6F53-C9B5-29BB3F039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1654B-092D-C435-9B15-02F05FB1F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BA52B-0031-BFEC-BC9F-41CE87FAC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5C35F-553F-0B8B-B53F-71E83AF0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DD1DF-13CE-FA9A-7264-D37A0644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0DF55-B34D-DB72-B73A-89EEB4AD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892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9B83-1B9A-573D-EBF8-4C224909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5908C-8036-BBBB-C5BD-BFAE14E63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C2890-8568-DC3E-3224-743AB004F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E9AE9-004E-8391-9FDC-F6180A04F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9CB98-80E1-89C2-854C-83FEF7D9D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DA7DF-97E2-C4D9-896A-278F47C4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E3D60-4405-0ACB-09EB-94BD1400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8A6E1-1DC0-A092-CD36-2AB6CE99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0202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001E-CA06-0C44-171D-D9F4782A2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EFAD4-F1E5-DF87-9799-35CD8018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FFA18-8D0D-C853-AEB7-B95325C3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D6196-6A58-B995-CEA8-590F06C8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515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2117F-1A5F-C640-1871-5AD588739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C9BBA-976A-CC95-1F8C-E35F3C3E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F30B-8880-6EC8-5B96-154BDBF8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3262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3F0B-2AE3-A724-83B2-ED1E7F73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ABEE6-D127-9BA6-FAE5-F38654E01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2C93A-1000-11BB-1135-2822ABC99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E6958-C2D9-7690-B470-6B607223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C7D25-1959-3F2F-0802-43140D90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7CD9D-6DB0-62D9-0DF6-A1722319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210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2251-88AD-9631-DA5B-98F1245E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6D25B-90CD-CE27-3E36-9AB5EAB17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D010B-06AF-90FE-EAAF-5AECAB9C3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17BC2-B992-37CF-98C4-C89A5CC7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5D617-1D47-9E92-22DA-83B60D43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0FB00-2A63-48B5-5C9F-164CB21E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3192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42FE-2DC1-AF2D-B4D7-9537C4D0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09C0B-6D21-478B-CFE4-8882C54CA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C8F1B-6CDD-772E-1C87-969F404EA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9BEB4-850C-A193-7803-9C687A33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2D731-7535-0769-72C9-A9BD49AF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559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D52309-E415-DAC7-45A7-DC14CD94E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DEB86-AE40-6505-6A5D-A2CE94E46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57E66-0EFC-E20B-4381-FCE3B22F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74EE5-301C-0143-E563-C2C2CC2E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A438D-5EFF-FAFB-D1A3-5A083FF7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2202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98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DCA75-F13D-FDEE-EF8B-8FDB0D71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CFBA6-C8FC-C038-6BD9-FC843C16F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B4F30-CB80-5267-48B0-91F8EF5D9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B6B7-9459-4CF4-890A-51E1FC118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4256F-7378-237D-DC59-7A4B13D54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73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6553" y="1858472"/>
            <a:ext cx="8301072" cy="58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iForecast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: Time-Series Modeling and Sales Forecasting of iPhone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37C8C-295E-789E-6052-F19B5B29970F}"/>
              </a:ext>
            </a:extLst>
          </p:cNvPr>
          <p:cNvSpPr txBox="1"/>
          <p:nvPr/>
        </p:nvSpPr>
        <p:spPr>
          <a:xfrm>
            <a:off x="1112865" y="125602"/>
            <a:ext cx="72230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KALLAM HARANADHAREDDY INSTITUTE OF TECHNOLOGY(AUTONOMOUS)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F9CC33-EE6C-F3D9-4D1D-635ED5A0AE11}"/>
              </a:ext>
            </a:extLst>
          </p:cNvPr>
          <p:cNvSpPr txBox="1"/>
          <p:nvPr/>
        </p:nvSpPr>
        <p:spPr>
          <a:xfrm>
            <a:off x="1491424" y="429148"/>
            <a:ext cx="6168509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 by (AICTE, New Delhi, Permanently Affiliated to JNTU KAKINADA)​ Affiliated by 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NAAC with ‘A’ Grade​ NH-16, </a:t>
            </a:r>
            <a:r>
              <a:rPr lang="en-US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Chowdavaram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Guntur – 522019(A.P)​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1DCBF7-8D97-EDC8-9C1E-92D33A7F057A}"/>
              </a:ext>
            </a:extLst>
          </p:cNvPr>
          <p:cNvSpPr txBox="1"/>
          <p:nvPr/>
        </p:nvSpPr>
        <p:spPr>
          <a:xfrm>
            <a:off x="2326341" y="575199"/>
            <a:ext cx="4491318" cy="6807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 Bold"/>
                <a:cs typeface="Times New Roman"/>
                <a:sym typeface="Times New Roman Bold"/>
              </a:rPr>
              <a:t>Department of CSE - (AI&amp;ML)</a:t>
            </a:r>
            <a:endParaRPr lang="en-US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8222C6-E4F8-95F7-6F74-8C41DE6DC68C}"/>
              </a:ext>
            </a:extLst>
          </p:cNvPr>
          <p:cNvSpPr txBox="1"/>
          <p:nvPr/>
        </p:nvSpPr>
        <p:spPr>
          <a:xfrm>
            <a:off x="472388" y="3413744"/>
            <a:ext cx="3707906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 err="1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Peddinti</a:t>
            </a:r>
            <a:r>
              <a:rPr lang="en-US" sz="1600" dirty="0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Moria</a:t>
            </a:r>
            <a:r>
              <a:rPr lang="en-US" sz="1600" dirty="0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Syam</a:t>
            </a:r>
            <a:r>
              <a:rPr lang="en-US" sz="1600" dirty="0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  228X1A42A0           </a:t>
            </a:r>
            <a:endParaRPr lang="en-US" sz="1600" dirty="0">
              <a:solidFill>
                <a:srgbClr val="0B132B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lang="en-US" sz="1600" dirty="0" err="1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Kayasiri</a:t>
            </a:r>
            <a:r>
              <a:rPr lang="en-US" sz="1600" dirty="0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Neelima           228X1A42B1</a:t>
            </a:r>
            <a:endParaRPr lang="en-US" sz="1600" dirty="0">
              <a:solidFill>
                <a:srgbClr val="0B132B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lang="en-US" sz="1600" dirty="0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Koduru </a:t>
            </a:r>
            <a:r>
              <a:rPr lang="en-US" sz="1600" dirty="0" err="1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Kavyasri</a:t>
            </a:r>
            <a:r>
              <a:rPr lang="en-US" sz="1600" dirty="0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   228X1A4268</a:t>
            </a:r>
            <a:endParaRPr lang="en-US" sz="1600" dirty="0">
              <a:solidFill>
                <a:srgbClr val="0B132B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lang="en-US" sz="1600" dirty="0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Shaik </a:t>
            </a:r>
            <a:r>
              <a:rPr lang="en-US" sz="1600" dirty="0" err="1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Hassem</a:t>
            </a:r>
            <a:r>
              <a:rPr lang="en-US" sz="1600" dirty="0">
                <a:solidFill>
                  <a:srgbClr val="0B13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Basha      228X1A42A9</a:t>
            </a:r>
            <a:endParaRPr lang="en-IN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C10BCA-397B-B887-D811-7CAB0ED8AA9F}"/>
              </a:ext>
            </a:extLst>
          </p:cNvPr>
          <p:cNvSpPr txBox="1"/>
          <p:nvPr/>
        </p:nvSpPr>
        <p:spPr>
          <a:xfrm>
            <a:off x="5582186" y="3434369"/>
            <a:ext cx="3924886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Alekhya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Tech (Ph. D)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Assistant Professor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4F361F-838A-BFD2-2E0B-08E65F9EDE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4580" y="92273"/>
            <a:ext cx="849140" cy="7985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0A8A53-2CC1-5E25-123D-4A0F41A04045}"/>
              </a:ext>
            </a:extLst>
          </p:cNvPr>
          <p:cNvSpPr txBox="1"/>
          <p:nvPr/>
        </p:nvSpPr>
        <p:spPr>
          <a:xfrm>
            <a:off x="1349076" y="3047924"/>
            <a:ext cx="1657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C52078D-1D29-9F51-FDA9-575744221D6E}"/>
              </a:ext>
            </a:extLst>
          </p:cNvPr>
          <p:cNvSpPr/>
          <p:nvPr/>
        </p:nvSpPr>
        <p:spPr>
          <a:xfrm>
            <a:off x="381418" y="566991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AD0B6-DA1D-9F6B-5447-B568DC543507}"/>
              </a:ext>
            </a:extLst>
          </p:cNvPr>
          <p:cNvSpPr txBox="1"/>
          <p:nvPr/>
        </p:nvSpPr>
        <p:spPr>
          <a:xfrm>
            <a:off x="3669478" y="54798"/>
            <a:ext cx="186483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200" b="1" dirty="0">
                <a:latin typeface="Times New Roman"/>
                <a:ea typeface="Calibri"/>
                <a:cs typeface="Times New Roman"/>
              </a:rPr>
              <a:t>Contents</a:t>
            </a:r>
            <a:endParaRPr lang="en-US" sz="2200" b="1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8F80E0-C896-1480-1C69-6CDE0BD16483}"/>
              </a:ext>
            </a:extLst>
          </p:cNvPr>
          <p:cNvSpPr txBox="1"/>
          <p:nvPr/>
        </p:nvSpPr>
        <p:spPr>
          <a:xfrm>
            <a:off x="381418" y="758026"/>
            <a:ext cx="647658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Abstract </a:t>
            </a:r>
            <a:endParaRPr lang="en-US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Literature Survey </a:t>
            </a:r>
            <a:endParaRPr lang="en-US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Technical Architecture </a:t>
            </a:r>
            <a:endParaRPr lang="en-US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Design &amp; Implementation </a:t>
            </a:r>
            <a:endParaRPr lang="en-US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Advantages </a:t>
            </a:r>
            <a:endParaRPr lang="en-US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04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0" y="128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 sz="220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ABSTRACT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1973376-6755-205A-8AD1-52F397C64703}"/>
              </a:ext>
            </a:extLst>
          </p:cNvPr>
          <p:cNvSpPr/>
          <p:nvPr/>
        </p:nvSpPr>
        <p:spPr>
          <a:xfrm>
            <a:off x="381418" y="566991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E3E13-8173-8871-7747-F43A934861B6}"/>
              </a:ext>
            </a:extLst>
          </p:cNvPr>
          <p:cNvSpPr txBox="1"/>
          <p:nvPr/>
        </p:nvSpPr>
        <p:spPr>
          <a:xfrm>
            <a:off x="368952" y="801078"/>
            <a:ext cx="8557334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iForecast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data analytics project focused on forecasting Apple iPhone sales trends in India.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historical sales, revenue, and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share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models such as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ARIMA, Prophet, and LSTM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prediction.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collected from sources like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 marketplace, Apple reports, and market datasets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dashboards are created using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Tableau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businesses understand future demand and plan strategies effectively.</a:t>
            </a:r>
            <a:endParaRPr lang="en-US" sz="17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/>
            <a:endParaRPr lang="en-US" sz="17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chemeClr val="accent6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0526" y="153162"/>
            <a:ext cx="3312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LITERATURE SURVEY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9C1C16-309B-9488-E599-A5D1D7BDD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544177"/>
              </p:ext>
            </p:extLst>
          </p:nvPr>
        </p:nvGraphicFramePr>
        <p:xfrm>
          <a:off x="435428" y="1337918"/>
          <a:ext cx="8342812" cy="2993581"/>
        </p:xfrm>
        <a:graphic>
          <a:graphicData uri="http://schemas.openxmlformats.org/drawingml/2006/table">
            <a:tbl>
              <a:tblPr firstRow="1" bandRow="1">
                <a:effectLst>
                  <a:outerShdw blurRad="3683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37658">
                  <a:extLst>
                    <a:ext uri="{9D8B030D-6E8A-4147-A177-3AD203B41FA5}">
                      <a16:colId xmlns:a16="http://schemas.microsoft.com/office/drawing/2014/main" val="39470537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376556177"/>
                    </a:ext>
                  </a:extLst>
                </a:gridCol>
                <a:gridCol w="2338251">
                  <a:extLst>
                    <a:ext uri="{9D8B030D-6E8A-4147-A177-3AD203B41FA5}">
                      <a16:colId xmlns:a16="http://schemas.microsoft.com/office/drawing/2014/main" val="4291496589"/>
                    </a:ext>
                  </a:extLst>
                </a:gridCol>
                <a:gridCol w="2085703">
                  <a:extLst>
                    <a:ext uri="{9D8B030D-6E8A-4147-A177-3AD203B41FA5}">
                      <a16:colId xmlns:a16="http://schemas.microsoft.com/office/drawing/2014/main" val="3597521744"/>
                    </a:ext>
                  </a:extLst>
                </a:gridCol>
              </a:tblGrid>
              <a:tr h="5099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Author /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Method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617888"/>
                  </a:ext>
                </a:extLst>
              </a:tr>
              <a:tr h="671592"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Smith et al.,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ARIMA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Used ARIMA for forecasting smartphone sales using historical time-series data.</a:t>
                      </a:r>
                      <a:endParaRPr lang="en-IN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Achieved reliable short-term predictions.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621824"/>
                  </a:ext>
                </a:extLst>
              </a:tr>
              <a:tr h="543067"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Johnson &amp; Lee, 2020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Prophet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Applied Facebook Prophet for market demand prediction.</a:t>
                      </a:r>
                      <a:endParaRPr lang="en-IN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Improved forecasting accuracy for seasonal data.</a:t>
                      </a:r>
                      <a:endParaRPr lang="en-IN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55965"/>
                  </a:ext>
                </a:extLst>
              </a:tr>
              <a:tr h="544807"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Kumar et al., 2021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LSTM Neural Networks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Used deep learning for complex sales prediction patterns.</a:t>
                      </a:r>
                      <a:endParaRPr lang="en-IN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Captured long-term dependencies effectively.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85212"/>
                  </a:ext>
                </a:extLst>
              </a:tr>
              <a:tr h="724178"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Chen et al., 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Hybrid Forecasting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Combined statistical and machine learning models.</a:t>
                      </a:r>
                      <a:endParaRPr lang="en-IN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Reduced prediction error compared to single models.</a:t>
                      </a:r>
                      <a:endParaRPr lang="en-IN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4201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464816" y="134874"/>
            <a:ext cx="42456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TECHNICAL  ARCHITECTURE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CA99B5D-4958-E3FF-E6E6-15DE3F002315}"/>
              </a:ext>
            </a:extLst>
          </p:cNvPr>
          <p:cNvSpPr/>
          <p:nvPr/>
        </p:nvSpPr>
        <p:spPr>
          <a:xfrm>
            <a:off x="381418" y="566991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1CD4A-B413-D75C-029D-3A2ABA48FC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" r="19"/>
          <a:stretch/>
        </p:blipFill>
        <p:spPr>
          <a:xfrm>
            <a:off x="653143" y="1208750"/>
            <a:ext cx="7881257" cy="31979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9992" y="173736"/>
            <a:ext cx="444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DESIGN &amp; IMPLEMENTATION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49808"/>
            <a:ext cx="8412480" cy="129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1F1F"/>
                </a:solidFill>
                <a:latin typeface="Times New Roman"/>
                <a:ea typeface="Calibri"/>
                <a:cs typeface="Times New Roman"/>
              </a:rPr>
              <a:t>Dataset Description</a:t>
            </a:r>
          </a:p>
          <a:p>
            <a:r>
              <a:rPr lang="en-US" sz="1600" dirty="0"/>
              <a:t>The dataset contains historical iPhone sales data, revenue statistics, and smartphone market share information in India.</a:t>
            </a:r>
            <a:br>
              <a:rPr lang="en-US" sz="1600" dirty="0"/>
            </a:br>
            <a:r>
              <a:rPr lang="en-US" sz="1600" dirty="0"/>
              <a:t>This data is used to train forecasting models and analyze sales trends across different time periods.</a:t>
            </a:r>
            <a:endParaRPr lang="en-US" sz="1600" b="1" dirty="0">
              <a:solidFill>
                <a:srgbClr val="1F1F1F"/>
              </a:solidFill>
              <a:latin typeface="Times New Roman"/>
              <a:ea typeface="Calibri"/>
              <a:cs typeface="Times New Roman"/>
            </a:endParaRPr>
          </a:p>
          <a:p>
            <a:endParaRPr lang="en-US" sz="1600" b="1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27B285-AD75-F04F-34EB-AC6FF957FC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610"/>
          <a:stretch/>
        </p:blipFill>
        <p:spPr>
          <a:xfrm>
            <a:off x="491490" y="1929384"/>
            <a:ext cx="8092441" cy="29352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86B10F8-C444-14A1-3196-EDC7C9A67F20}"/>
              </a:ext>
            </a:extLst>
          </p:cNvPr>
          <p:cNvSpPr/>
          <p:nvPr/>
        </p:nvSpPr>
        <p:spPr>
          <a:xfrm>
            <a:off x="365760" y="62179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47815-75D1-05D8-BDEA-7F7AC55081E5}"/>
              </a:ext>
            </a:extLst>
          </p:cNvPr>
          <p:cNvSpPr txBox="1"/>
          <p:nvPr/>
        </p:nvSpPr>
        <p:spPr>
          <a:xfrm>
            <a:off x="280276" y="863105"/>
            <a:ext cx="8583447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multiple sources such as Flipkart, Apple reports, and market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preprocessing including cleaning, transformation, and formatting.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of time-series forecasting models to analyze sales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of processed data into visualization tools.</a:t>
            </a:r>
          </a:p>
          <a:p>
            <a:endParaRPr lang="en-US" sz="1200" dirty="0">
              <a:latin typeface="Times New Roman"/>
              <a:ea typeface="Calibri"/>
              <a:cs typeface="Times New Roman"/>
            </a:endParaRPr>
          </a:p>
          <a:p>
            <a:endParaRPr lang="en-US" sz="1600" b="1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7100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42E373-671D-CDC7-3843-9244E710631B}"/>
              </a:ext>
            </a:extLst>
          </p:cNvPr>
          <p:cNvSpPr txBox="1"/>
          <p:nvPr/>
        </p:nvSpPr>
        <p:spPr>
          <a:xfrm>
            <a:off x="333044" y="783940"/>
            <a:ext cx="776592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developed using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sales trends, growth patterns, and market share.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and controls allow users to explore data by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year, model, and region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results are displayed through charts and graphs for better understanding.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E409AD-EEED-81D1-905A-2F808A5F9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7"/>
          <a:stretch/>
        </p:blipFill>
        <p:spPr>
          <a:xfrm>
            <a:off x="566906" y="1887755"/>
            <a:ext cx="7879558" cy="31011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2736E2-DFD0-6BC7-5556-16EF9AD9F66F}"/>
              </a:ext>
            </a:extLst>
          </p:cNvPr>
          <p:cNvSpPr txBox="1"/>
          <p:nvPr/>
        </p:nvSpPr>
        <p:spPr>
          <a:xfrm>
            <a:off x="253215" y="41825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85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C0AE3F-BD06-E352-B88D-65507AB5B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81" y="1874521"/>
            <a:ext cx="8199038" cy="29953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072E29-B282-3F39-E99E-B43CF73FB439}"/>
              </a:ext>
            </a:extLst>
          </p:cNvPr>
          <p:cNvSpPr txBox="1"/>
          <p:nvPr/>
        </p:nvSpPr>
        <p:spPr>
          <a:xfrm>
            <a:off x="297543" y="799478"/>
            <a:ext cx="85779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application is developed using the Flask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acts as a central platform to access all analytics dashboards</a:t>
            </a:r>
            <a:endParaRPr lang="en-IN" sz="1400" b="1" dirty="0">
              <a:highlight>
                <a:srgbClr val="FFFFFF"/>
              </a:highlight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Public dashboards are embedded into the web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interact with dashboards directly through the web application.</a:t>
            </a:r>
            <a:endParaRPr lang="en-IN" sz="1400" b="1" dirty="0">
              <a:highlight>
                <a:srgbClr val="FFFFFF"/>
              </a:highlight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C6BF1-DBA0-C352-C397-E31FFE0CC79C}"/>
              </a:ext>
            </a:extLst>
          </p:cNvPr>
          <p:cNvSpPr txBox="1"/>
          <p:nvPr/>
        </p:nvSpPr>
        <p:spPr>
          <a:xfrm>
            <a:off x="297543" y="43014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Integration</a:t>
            </a:r>
          </a:p>
        </p:txBody>
      </p:sp>
    </p:spTree>
    <p:extLst>
      <p:ext uri="{BB962C8B-B14F-4D97-AF65-F5344CB8AC3E}">
        <p14:creationId xmlns:p14="http://schemas.microsoft.com/office/powerpoint/2010/main" val="295933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FB4E9E-2B47-CE2C-79DA-C6042BFC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57" y="1872525"/>
            <a:ext cx="8162800" cy="2953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41CF69-6E07-D67A-82A1-33B9FBE7F485}"/>
              </a:ext>
            </a:extLst>
          </p:cNvPr>
          <p:cNvSpPr txBox="1"/>
          <p:nvPr/>
        </p:nvSpPr>
        <p:spPr>
          <a:xfrm>
            <a:off x="355601" y="3904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Integration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029CD-AE20-B838-54C0-8EDEDED13FAE}"/>
              </a:ext>
            </a:extLst>
          </p:cNvPr>
          <p:cNvSpPr txBox="1"/>
          <p:nvPr/>
        </p:nvSpPr>
        <p:spPr>
          <a:xfrm>
            <a:off x="333829" y="759774"/>
            <a:ext cx="88101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dashboards and stories are published on Tableau Public.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Tableau links are integrated into the Flask web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users to view interactive dashboards without opening Tableau separately.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improves accessibility and provides a unified analytics platform.</a:t>
            </a:r>
            <a:endParaRPr lang="en-IN" sz="1400" b="1" dirty="0">
              <a:highlight>
                <a:srgbClr val="FFFFFF"/>
              </a:highlight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27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1082" y="160020"/>
            <a:ext cx="30861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ADVANTAGES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49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 dirty="0"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908702"/>
            <a:ext cx="8263890" cy="4001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future smartphone sales trends using machine learning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make complex data easier to understand.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useful insights for marketing and sales strategy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Accessibility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dashboards are integrated into a single web application for easy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quick analysis of historical and predicted sales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Solution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to forecast sales for other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09160" y="749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420" y="1828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CONCLUSION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BA9787-B243-8E0E-1BE9-CA0564B95F1C}"/>
              </a:ext>
            </a:extLst>
          </p:cNvPr>
          <p:cNvSpPr txBox="1"/>
          <p:nvPr/>
        </p:nvSpPr>
        <p:spPr>
          <a:xfrm>
            <a:off x="365760" y="844368"/>
            <a:ext cx="826389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iForecast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time-series based system developed to predict future iPhone sales using historical sales data and market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applies forecasting models such as ARIMA and SARIMA to analyze seasonal patterns, trends, and demand variations in the smartphone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collected data through data cleaning, preprocessing, and modeling to generate accurate sales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results help companies in inventory planning, production management, and market strategy decisions, enabling better business planning.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027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83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1118</TotalTime>
  <Words>699</Words>
  <Application>Microsoft Office PowerPoint</Application>
  <PresentationFormat>On-screen Show (16:9)</PresentationFormat>
  <Paragraphs>115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Hyndavi Koduru</cp:lastModifiedBy>
  <cp:revision>500</cp:revision>
  <dcterms:created xsi:type="dcterms:W3CDTF">2026-03-09T15:18:00Z</dcterms:created>
  <dcterms:modified xsi:type="dcterms:W3CDTF">2026-03-12T04:04:14Z</dcterms:modified>
</cp:coreProperties>
</file>